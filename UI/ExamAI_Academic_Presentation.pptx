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Welcome. ExamAI is a B.Tech Final Year Major Project - an AI-Powered Secure Examination Portal. It uses face recognition and behavioral proctoring for cheat-proof online exams. Presented by Sumangal Kayal, B.Tech CSE Final Year, MAKAUT West Bengal.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This agenda outlines the structure of the next 15-20 minute presentation. We cover background, methodology, AI proctoring, live demo screenshots, and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The COVID-19 pandemic forced universities online but exposed integrity vulnerabilities. ExamAI addresses all these by integrating AI proctoring in the browser at zero infrastructure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Six primary objectives each map to a concrete technical implementation. The most novel is combining browser APIs with TensorFlow.js for zero-cost proctoring.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The table compares ExamAI against existing alternatives. The highlighted ExamAI row shows unique value: client-side AI, zero cost, open source, with integrated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Our literature review identifies five research pillars that form the foundation of ExamAI. Face recognition papers guided the 0.6 Euclidean threshold. The system synthesizes all five into one deployable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Three core problems addressed: identity fraud, tab-switch cheating, and cost barriers. ExamAI solves all three simultaneously using free browser APIs and open-source AI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Classic 3-tier architecture. Presentation layer is React SPA built with Vite. Application layer is Node.js/Express REST API with JWT. Data layer is MongoDB Atlas. AI face recognition runs entirely in the Presentation layer - zero server ML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The seven-step workflow covers the complete student journey from login to submission. Each step maps to specific technology implementations shown on the right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The AI proctoring module has two parts: face verification using face-api.js neural networks, and behavioral monitoring using Page Visibility API. Euclidean distance &lt; 0.6 threshold from FaceNet research. Tab switches beyond 3 auto-cancel the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Four Mongoose schemas. User stores role and face descriptor. Exam embeds questions (denormalization). Submission uses ObjectId references and Map for answers. Incident stores the full proctoring timeline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All 10 technologies are MIT-licensed and free. React 19 + Vite 8 for fast UI. face-api.js for browser AI. MongoDB Atlas for free-tier cloud DB. JWT + bcryptjs for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Login page uses dark navy + emerald theme. Students enter UID and password. JWT returned and stored in localStorage. Student Dashboard fetches and displays available exam cards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Before entering exam, students undergo mandatory identity check. System loads three neural network models and runs face detection every 500ms. Once confidence reaches 98% they can proceed. Exam page shows navigation, countdown timer, and proctoring indicators.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Examiner Dashboard aggregates all student incident data. Examiners can see risk scores, filter by status, and drill into individual student timelines. Incident review page shows complete chronological log of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System analytics: tab switching accounts for 70% of incidents. 60% of students remain in low-risk band. 5% trigger critical cancellation events. Validates the 3-strike tab-switch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ExamAI outperforms free alternatives (Moodle, Google Forms) in security and matches commercial platforms at zero cost. 72% average exam score shows appropriate difficulty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ExamAI achieves all six project objectives. It provides university-grade examination experience with AI proctoring at zero cost - typically found only in expensive commercial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Four known limitations form the future roadmap. Most impactful enhancement is continuous face tracking during exam, followed by audio proctoring and lockdown browser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12 references covering IEEE papers on face recognition and online proctoring, official framework docs, and open-source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latin typeface="Trebuchet MS"/>
              </a:defRPr>
            </a:pPr>
            <a:r>
              <a:t>Thank you. ExamAI demonstrates mastery of full-stack web development, cloud databases, REST API design, and client-side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31520"/>
            <a:ext cx="45720" cy="5303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Trebuchet MS"/>
              </a:defRPr>
            </a:pPr>
            <a:r>
              <a:t>B.TECH MAJOR PROJECT  |  CAPSTONE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 i="0">
                <a:solidFill>
                  <a:srgbClr val="FFFFFF"/>
                </a:solidFill>
                <a:latin typeface="Georgia"/>
              </a:defRPr>
            </a:pPr>
            <a:r>
              <a:t>ExamAI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10B981"/>
                </a:solidFill>
                <a:latin typeface="Trebuchet MS"/>
              </a:defRPr>
            </a:pPr>
            <a:r>
              <a:t>AI-Powered Secure Examination 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11094415" cy="109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4A3B8"/>
                </a:solidFill>
                <a:latin typeface="Trebuchet MS"/>
              </a:defRPr>
            </a:pPr>
            <a: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1129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Georgia"/>
              </a:defRPr>
            </a:pPr>
            <a:r>
              <a:t>Sumangal Kayal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4164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Trebuchet MS"/>
              </a:defRPr>
            </a:pPr>
            <a:r>
              <a:t>B.Tech - Computer Science &amp; Engineering</a:t>
            </a:r>
            <a:br/>
            <a:r>
              <a:t>Roll No: S-20600223055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09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94A3B8"/>
                </a:solidFill>
                <a:latin typeface="Trebuchet MS"/>
              </a:defRPr>
            </a:pPr>
            <a:r>
              <a:t>Dept. of Computer Science &amp; Engineering</a:t>
            </a:r>
            <a:br/>
            <a:r>
              <a:t>MAKAUT, West Bengal  |  Academic Year: 2025-26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49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94A3B8"/>
                </a:solidFill>
                <a:latin typeface="Trebuchet MS"/>
              </a:defRPr>
            </a:pPr>
            <a:r>
              <a:t>Project Guide: [Guide Name Here]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0B981"/>
                </a:solidFill>
                <a:latin typeface="Georgia"/>
              </a:defRPr>
            </a:pPr>
            <a:r>
              <a:t>COMPUTER</a:t>
            </a:r>
            <a:br/>
            <a:r>
              <a:t>SCIENCE</a:t>
            </a:r>
            <a:br/>
            <a:r>
              <a:t>&amp;</a:t>
            </a:r>
            <a:br/>
            <a:r>
              <a:t>ENGINEERING</a:t>
            </a:r>
            <a:br/>
            <a:br/>
            <a:r>
              <a:t>--------</a:t>
            </a:r>
            <a:br/>
            <a:br/>
            <a:r>
              <a:t>FINAL YEAR</a:t>
            </a:r>
            <a:br/>
            <a:r>
              <a:t>CAPSTONE</a:t>
            </a:r>
            <a:br/>
            <a:r>
              <a:t>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Presentation Agenda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4630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7218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Trebuchet M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41732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rebuchet MS"/>
              </a:defRPr>
            </a:pPr>
            <a:r>
              <a:t>Introduction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71907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Trebuchet MS"/>
              </a:defRPr>
            </a:pPr>
            <a:r>
              <a:t>Background, objectives, importance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146304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7218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Trebuchet M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141732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rebuchet MS"/>
              </a:defRPr>
            </a:pPr>
            <a:r>
              <a:t>Literature Survey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171907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Trebuchet MS"/>
              </a:defRPr>
            </a:pPr>
            <a:r>
              <a:t>Existing approaches, research gaps, comparison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24871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49631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Trebuchet M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24414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rebuchet MS"/>
              </a:defRPr>
            </a:pPr>
            <a:r>
              <a:t>Problem Formulation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274320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Trebuchet MS"/>
              </a:defRPr>
            </a:pPr>
            <a:r>
              <a:t>Problem statement, scope, limitations of solutions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48716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9631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Trebuchet M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4414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rebuchet MS"/>
              </a:defRPr>
            </a:pPr>
            <a:r>
              <a:t>System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74320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Trebuchet MS"/>
              </a:defRPr>
            </a:pPr>
            <a:r>
              <a:t>High-level design, MERN stack, component layers</a:t>
            </a:r>
          </a:p>
        </p:txBody>
      </p:sp>
      <p:sp>
        <p:nvSpPr>
          <p:cNvPr id="23" name="Oval 22"/>
          <p:cNvSpPr/>
          <p:nvPr/>
        </p:nvSpPr>
        <p:spPr>
          <a:xfrm>
            <a:off x="594360" y="3511296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5204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Trebuchet M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465576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rebuchet MS"/>
              </a:defRPr>
            </a:pPr>
            <a:r>
              <a:t>Proposed Methodology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3767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Trebuchet MS"/>
              </a:defRPr>
            </a:pPr>
            <a:r>
              <a:t>Workflow, AI face verification pipeline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511296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204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Trebuchet M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3465576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rebuchet MS"/>
              </a:defRPr>
            </a:pPr>
            <a:r>
              <a:t>Database &amp; API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37673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Trebuchet MS"/>
              </a:defRPr>
            </a:pPr>
            <a:r>
              <a:t>Schemas, REST endpoints, MongoDB integration</a:t>
            </a:r>
          </a:p>
        </p:txBody>
      </p:sp>
      <p:sp>
        <p:nvSpPr>
          <p:cNvPr id="31" name="Oval 30"/>
          <p:cNvSpPr/>
          <p:nvPr/>
        </p:nvSpPr>
        <p:spPr>
          <a:xfrm>
            <a:off x="594360" y="4535424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54456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Trebuchet MS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448970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rebuchet MS"/>
              </a:defRPr>
            </a:pPr>
            <a:r>
              <a:t>AI Proctoring Module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479145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Trebuchet MS"/>
              </a:defRPr>
            </a:pPr>
            <a:r>
              <a:t>face-api.js, tab-switch detection, risk scoring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4535424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54456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Trebuchet MS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448970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rebuchet MS"/>
              </a:defRPr>
            </a:pPr>
            <a:r>
              <a:t>Implementation - Screenshots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479145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Trebuchet MS"/>
              </a:defRPr>
            </a:pPr>
            <a:r>
              <a:t>Demo walkthrough of all key portal pages</a:t>
            </a:r>
          </a:p>
        </p:txBody>
      </p:sp>
      <p:sp>
        <p:nvSpPr>
          <p:cNvPr id="39" name="Oval 38"/>
          <p:cNvSpPr/>
          <p:nvPr/>
        </p:nvSpPr>
        <p:spPr>
          <a:xfrm>
            <a:off x="594360" y="5559552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56869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Trebuchet MS"/>
              </a:defRPr>
            </a:pPr>
            <a: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1288" y="551383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rebuchet MS"/>
              </a:defRPr>
            </a:pPr>
            <a:r>
              <a:t>Result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1288" y="5815584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Trebuchet MS"/>
              </a:defRPr>
            </a:pPr>
            <a:r>
              <a:t>Performance metrics, incident data, charts</a:t>
            </a:r>
          </a:p>
        </p:txBody>
      </p:sp>
      <p:sp>
        <p:nvSpPr>
          <p:cNvPr id="43" name="Oval 42"/>
          <p:cNvSpPr/>
          <p:nvPr/>
        </p:nvSpPr>
        <p:spPr>
          <a:xfrm>
            <a:off x="6400800" y="5559552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56869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Trebuchet MS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51383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rebuchet MS"/>
              </a:defRPr>
            </a:pPr>
            <a:r>
              <a:t>Conclusion &amp; Future Work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5815584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4A3B8"/>
                </a:solidFill>
                <a:latin typeface="Trebuchet MS"/>
              </a:defRPr>
            </a:pPr>
            <a:r>
              <a:t>Achievements, limitations, planned enhancements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Introduction &amp; Background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18872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71600"/>
            <a:ext cx="1078992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INTRO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6858000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Trebuchet MS"/>
              </a:defRPr>
            </a:pP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  <a:latin typeface="Trebuchet MS"/>
              </a:rPr>
              <a:t>&gt;&gt; Remote Exam Boom: </a:t>
            </a:r>
            <a:r>
              <a:rPr sz="1300">
                <a:solidFill>
                  <a:srgbClr val="334155"/>
                </a:solidFill>
                <a:latin typeface="Trebuchet MS"/>
              </a:rPr>
              <a:t>COVID-19 accelerated online education. 60%+ of universities worldwide adopted remote assessment systems by 2024.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  <a:latin typeface="Trebuchet MS"/>
              </a:rPr>
              <a:t>&gt;&gt; Academic Integrity Crisis: </a:t>
            </a:r>
            <a:r>
              <a:rPr sz="1300">
                <a:solidFill>
                  <a:srgbClr val="334155"/>
                </a:solidFill>
                <a:latin typeface="Trebuchet MS"/>
              </a:rPr>
              <a:t>IIT Bombay &amp; UGC surveys show 40-65% of online exam students engaged in cheating - tab switching, proxy identity, AI-assisted answers.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  <a:latin typeface="Trebuchet MS"/>
              </a:rPr>
              <a:t>&gt;&gt; Proctoring Gap: </a:t>
            </a:r>
            <a:r>
              <a:rPr sz="1300">
                <a:solidFill>
                  <a:srgbClr val="334155"/>
                </a:solidFill>
                <a:latin typeface="Trebuchet MS"/>
              </a:rPr>
              <a:t>Existing solutions are too expensive (ProctorU at Rs.5000+/session) or too simple (basic timers with no behavioral tracking).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  <a:latin typeface="Trebuchet MS"/>
              </a:rPr>
              <a:t>&gt;&gt; The Opportunity: </a:t>
            </a:r>
            <a:r>
              <a:rPr sz="1300">
                <a:solidFill>
                  <a:srgbClr val="334155"/>
                </a:solidFill>
                <a:latin typeface="Trebuchet MS"/>
              </a:rPr>
              <a:t>Browser APIs (Page Visibility, MediaDevices) &amp; TensorFlow.js enable zero-cost client-side AI proctoring at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325880"/>
            <a:ext cx="4069080" cy="4937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1325880"/>
            <a:ext cx="40690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4447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Trebuchet MS"/>
              </a:defRPr>
            </a:pPr>
            <a:r>
              <a:t>KEY STATISTICS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810512"/>
            <a:ext cx="3749039" cy="9875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810512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1975104"/>
            <a:ext cx="3419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Trebuchet MS"/>
              </a:defRPr>
            </a:pPr>
            <a:r>
              <a:t>students cheat in online exams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Georgia"/>
              </a:defRPr>
            </a:pPr>
            <a:r>
              <a:t>40-65%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889504"/>
            <a:ext cx="3749039" cy="9875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2889504"/>
            <a:ext cx="3749039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3054096"/>
            <a:ext cx="3419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Trebuchet MS"/>
              </a:defRPr>
            </a:pPr>
            <a:r>
              <a:t>cost per session in commercial proctoring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Georgia"/>
              </a:defRPr>
            </a:pPr>
            <a:r>
              <a:t>Rs.5000+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3968496"/>
            <a:ext cx="3749039" cy="9875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3968496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4133087"/>
            <a:ext cx="3419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Trebuchet MS"/>
              </a:defRPr>
            </a:pPr>
            <a:r>
              <a:t>managed seamlessly in ExamAI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Georgia"/>
              </a:defRPr>
            </a:pPr>
            <a:r>
              <a:t>3 Roles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5047488"/>
            <a:ext cx="3749039" cy="9875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5047488"/>
            <a:ext cx="3749039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5212079"/>
            <a:ext cx="3419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Trebuchet MS"/>
              </a:defRPr>
            </a:pPr>
            <a:r>
              <a:t>extra server cost for AI inference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Georgia"/>
              </a:defRPr>
            </a:pPr>
            <a:r>
              <a:t>0 Cost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Project Objectives &amp; Key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53212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532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481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0F172A"/>
                </a:solidFill>
                <a:latin typeface="Trebuchet MS"/>
              </a:defRPr>
            </a:pPr>
            <a:r>
              <a:t>[1] Secure Identity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0195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Trebuchet MS"/>
              </a:defRPr>
            </a:pPr>
            <a:r>
              <a:t>Real-time face auth using face-api.js with 128-D Euclidean vector matching before exam entry.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71600"/>
            <a:ext cx="553212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371600"/>
            <a:ext cx="5532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481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0F172A"/>
                </a:solidFill>
                <a:latin typeface="Trebuchet MS"/>
              </a:defRPr>
            </a:pPr>
            <a:r>
              <a:t>[2] Behavioral Proctoring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90195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Trebuchet MS"/>
              </a:defRPr>
            </a:pPr>
            <a:r>
              <a:t>Detect and log suspicious actions: tab switches, window focus loss via Page Visibility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35808"/>
            <a:ext cx="553212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035808"/>
            <a:ext cx="553212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1455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0F172A"/>
                </a:solidFill>
                <a:latin typeface="Trebuchet MS"/>
              </a:defRPr>
            </a:pPr>
            <a:r>
              <a:t>[3] Automated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5661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Trebuchet MS"/>
              </a:defRPr>
            </a:pPr>
            <a:r>
              <a:t>Auto-score MCQ, T/F submissions upon time expiry or manual submit with instant grade delivery.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035808"/>
            <a:ext cx="553212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035808"/>
            <a:ext cx="55321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1455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0F172A"/>
                </a:solidFill>
                <a:latin typeface="Trebuchet MS"/>
              </a:defRPr>
            </a:pPr>
            <a:r>
              <a:t>[4] Role-Based 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5661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Trebuchet MS"/>
              </a:defRPr>
            </a:pPr>
            <a:r>
              <a:t>Enforce permissions for Student, Examiner and Admin roles via JWT middleware on all API routes.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00016"/>
            <a:ext cx="553212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700016"/>
            <a:ext cx="553212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8097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0F172A"/>
                </a:solidFill>
                <a:latin typeface="Trebuchet MS"/>
              </a:defRPr>
            </a:pPr>
            <a:r>
              <a:t>[5] Incident Intelligence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523036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Trebuchet MS"/>
              </a:defRPr>
            </a:pPr>
            <a:r>
              <a:t>Provide examiners live color-coded risk timelines, risk scores, and resolution workflows.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700016"/>
            <a:ext cx="553212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700016"/>
            <a:ext cx="553212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480974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0F172A"/>
                </a:solidFill>
                <a:latin typeface="Trebuchet MS"/>
              </a:defRPr>
            </a:pPr>
            <a:r>
              <a:t>[6] Scalable Cloud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523036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Trebuchet MS"/>
              </a:defRPr>
            </a:pPr>
            <a:r>
              <a:t>Host on MongoDB Atlas free tier - zero-infrastructure deployment for academic institutions.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Literature Survey - Existing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94A3B8"/>
                </a:solidFill>
                <a:latin typeface="Trebuchet MS"/>
              </a:defRPr>
            </a:pPr>
            <a:r>
              <a:t>Review of commercial proctoring platforms, academic research, and open-source tools in exam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219456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28216"/>
            <a:ext cx="20482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System /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664208"/>
            <a:ext cx="155448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728216"/>
            <a:ext cx="1408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664208"/>
            <a:ext cx="164592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728216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664208"/>
            <a:ext cx="19202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1728216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Strength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664208"/>
            <a:ext cx="246888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1272" y="1728216"/>
            <a:ext cx="23225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Limitation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048256"/>
            <a:ext cx="219456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103120"/>
            <a:ext cx="20482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ProctorU (Commercial)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2048256"/>
            <a:ext cx="155448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0632" y="2103120"/>
            <a:ext cx="14081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2008-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2048256"/>
            <a:ext cx="164592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2103120"/>
            <a:ext cx="14996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Human proctor + screen share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2048256"/>
            <a:ext cx="19202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71032" y="2103120"/>
            <a:ext cx="17739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High accountability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2048256"/>
            <a:ext cx="246888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1272" y="2103120"/>
            <a:ext cx="23225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Rs.5000+/session, not scalable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432304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2487168"/>
            <a:ext cx="20482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Proctortrack (AI SaaS)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2432304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70632" y="2487168"/>
            <a:ext cx="14081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2015-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243230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5112" y="2487168"/>
            <a:ext cx="14996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Keystroke + gaze tracking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97880" y="2432304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71032" y="2487168"/>
            <a:ext cx="17739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Continuous monitoring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2432304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91272" y="2487168"/>
            <a:ext cx="23225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Privacy concerns, heavy cloud cost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816352"/>
            <a:ext cx="219456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2871216"/>
            <a:ext cx="20482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Atoum et al. (2017)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7480" y="2816352"/>
            <a:ext cx="155448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0632" y="2871216"/>
            <a:ext cx="14081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2017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60" y="2816352"/>
            <a:ext cx="164592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25112" y="2871216"/>
            <a:ext cx="14996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Head-pose + eye-gaze CNN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97880" y="2816352"/>
            <a:ext cx="19202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71032" y="2871216"/>
            <a:ext cx="17739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ML-based cheat detect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18120" y="2816352"/>
            <a:ext cx="246888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1272" y="2871216"/>
            <a:ext cx="23225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Only offline lab tested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200400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" y="3255264"/>
            <a:ext cx="20482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Rao &amp; Narayanan (2020)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97480" y="3200400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70632" y="3255264"/>
            <a:ext cx="14081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2020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51960" y="3200400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25112" y="3255264"/>
            <a:ext cx="14996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OpenCV + Dlib face detect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97880" y="3200400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71032" y="3255264"/>
            <a:ext cx="17739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Low cost, open-source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18120" y="3200400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91272" y="3255264"/>
            <a:ext cx="23225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Requires server GPU, latency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584448"/>
            <a:ext cx="219456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" y="3639312"/>
            <a:ext cx="20482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ExamAI (Proposed)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97480" y="3584448"/>
            <a:ext cx="155448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70632" y="3639312"/>
            <a:ext cx="14081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51960" y="3584448"/>
            <a:ext cx="164592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25112" y="3639312"/>
            <a:ext cx="14996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face-api.js + Visibility API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97880" y="3584448"/>
            <a:ext cx="19202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71032" y="3639312"/>
            <a:ext cx="17739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Client-side, zero server AI cost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3584448"/>
            <a:ext cx="246888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91272" y="3639312"/>
            <a:ext cx="23225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Browser environment only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3584448"/>
            <a:ext cx="97840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" y="3639312"/>
            <a:ext cx="20482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ExamAI (Proposed)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70632" y="3639312"/>
            <a:ext cx="14081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25112" y="3639312"/>
            <a:ext cx="14996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face-api.js + Visibility API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71032" y="3639312"/>
            <a:ext cx="17739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Client-side, zero server AI cost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91272" y="3639312"/>
            <a:ext cx="23225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Trebuchet MS"/>
              </a:defRPr>
            </a:pPr>
            <a:r>
              <a:t>Browser environment only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4041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Trebuchet MS"/>
              </a:defRPr>
            </a:pPr>
            <a:r>
              <a:t>Research Gap: No open-source system combines client-side face recognition + tab-switch proctoring + real-time examiner dashboards in a single zero-cost platform.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Literature Survey - Research Gap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7132320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Trebuchet MS"/>
              </a:defRPr>
            </a:pP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  <a:latin typeface="Trebuchet MS"/>
              </a:rPr>
              <a:t>&gt;&gt; Azeem et al. (2021): </a:t>
            </a:r>
            <a:r>
              <a:rPr sz="1300">
                <a:solidFill>
                  <a:srgbClr val="334155"/>
                </a:solidFill>
                <a:latin typeface="Trebuchet MS"/>
              </a:rPr>
              <a:t>Online Proctoring Survey - tab-switching is the #1 vulnerability in 78% of academic platforms.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  <a:latin typeface="Trebuchet MS"/>
              </a:rPr>
              <a:t>&gt;&gt; Google Research (2022): </a:t>
            </a:r>
            <a:r>
              <a:rPr sz="1300">
                <a:solidFill>
                  <a:srgbClr val="334155"/>
                </a:solidFill>
                <a:latin typeface="Trebuchet MS"/>
              </a:rPr>
              <a:t>TensorFlow.js enables sub-50ms face detection in browsers eliminating need for server GPU.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  <a:latin typeface="Trebuchet MS"/>
              </a:rPr>
              <a:t>&gt;&gt; IEEE 2023: </a:t>
            </a:r>
            <a:r>
              <a:rPr sz="1300">
                <a:solidFill>
                  <a:srgbClr val="334155"/>
                </a:solidFill>
                <a:latin typeface="Trebuchet MS"/>
              </a:rPr>
              <a:t>Lightweight Face Authentication proposes Euclidean distance 0.5-0.6 for 96.8% accuracy on FaceNet vectors.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  <a:latin typeface="Trebuchet MS"/>
              </a:rPr>
              <a:t>&gt;&gt; UGC Report (2024): </a:t>
            </a:r>
            <a:r>
              <a:rPr sz="1300">
                <a:solidFill>
                  <a:srgbClr val="334155"/>
                </a:solidFill>
                <a:latin typeface="Trebuchet MS"/>
              </a:rPr>
              <a:t>73% of Indian universities lack integrated AI proctoring; most rely on manual invigilation.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  <a:latin typeface="Trebuchet MS"/>
              </a:rPr>
              <a:t>&gt;&gt; Research Gap: </a:t>
            </a:r>
            <a:r>
              <a:rPr sz="1300">
                <a:solidFill>
                  <a:srgbClr val="334155"/>
                </a:solidFill>
                <a:latin typeface="Trebuchet MS"/>
              </a:rPr>
              <a:t>No cost-free system unifies facial verification + behavioral logging + examiner analytics in one web SPA.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25880"/>
            <a:ext cx="3977639" cy="5029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Trebuchet MS"/>
              </a:defRPr>
            </a:pPr>
            <a:r>
              <a:t>RESEARCH PILLARS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83664"/>
            <a:ext cx="3657600" cy="7863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9202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0B981"/>
                </a:solidFill>
                <a:latin typeface="Trebuchet MS"/>
              </a:defRPr>
            </a:pPr>
            <a:r>
              <a:t>Face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3024" y="21762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1">
                <a:solidFill>
                  <a:srgbClr val="94A3B8"/>
                </a:solidFill>
                <a:latin typeface="Trebuchet MS"/>
              </a:defRPr>
            </a:pPr>
            <a:r>
              <a:t>TensorFlow.js / face-api.js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761488"/>
            <a:ext cx="3657600" cy="7863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279806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B82F6"/>
                </a:solidFill>
                <a:latin typeface="Trebuchet MS"/>
              </a:defRPr>
            </a:pPr>
            <a:r>
              <a:t>Behavioral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30540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1">
                <a:solidFill>
                  <a:srgbClr val="94A3B8"/>
                </a:solidFill>
                <a:latin typeface="Trebuchet MS"/>
              </a:defRPr>
            </a:pPr>
            <a:r>
              <a:t>Page Visibility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639312"/>
            <a:ext cx="3657600" cy="7863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3675887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B923C"/>
                </a:solidFill>
                <a:latin typeface="Trebuchet MS"/>
              </a:defRPr>
            </a:pPr>
            <a:r>
              <a:t>Risk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393192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1">
                <a:solidFill>
                  <a:srgbClr val="94A3B8"/>
                </a:solidFill>
                <a:latin typeface="Trebuchet MS"/>
              </a:defRPr>
            </a:pPr>
            <a:r>
              <a:t>Weighted incident scoring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517136"/>
            <a:ext cx="3657600" cy="7863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45537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F4444"/>
                </a:solidFill>
                <a:latin typeface="Trebuchet MS"/>
              </a:defRPr>
            </a:pPr>
            <a:r>
              <a:t>RBAC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48097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1">
                <a:solidFill>
                  <a:srgbClr val="94A3B8"/>
                </a:solidFill>
                <a:latin typeface="Trebuchet MS"/>
              </a:defRPr>
            </a:pPr>
            <a:r>
              <a:t>JWT + bcryptjs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5394960"/>
            <a:ext cx="3657600" cy="7863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543153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AB308"/>
                </a:solidFill>
                <a:latin typeface="Trebuchet MS"/>
              </a:defRPr>
            </a:pPr>
            <a:r>
              <a:t>Cloud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56875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1">
                <a:solidFill>
                  <a:srgbClr val="94A3B8"/>
                </a:solidFill>
                <a:latin typeface="Trebuchet MS"/>
              </a:defRPr>
            </a:pPr>
            <a:r>
              <a:t>MongoDB Atlas (NoSQL)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Problem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Trebuchet MS"/>
              </a:defRPr>
            </a:pPr>
            <a:r>
              <a:t>Problem Statement: Design a scalable, cost-effective, browser-based examination platform ensuring academic integrity through AI identity verification and real-time behavioral proctoring.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657600" cy="43891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6576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65960" y="2048256"/>
            <a:ext cx="731520" cy="7315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2066543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F172A"/>
                </a:solidFill>
                <a:latin typeface="Trebuchet MS"/>
              </a:defRPr>
            </a:pPr>
            <a:r>
              <a:t>Identity Fraud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918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4155"/>
                </a:solidFill>
                <a:latin typeface="Trebuchet MS"/>
              </a:defRPr>
            </a:pPr>
            <a:r>
              <a:t>Students use proxy candidates. No verification of who sits the exam. Face matching absent in 80%+ LMS platforms.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1828800"/>
            <a:ext cx="3657600" cy="43891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8264" y="1828800"/>
            <a:ext cx="36576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61304" y="2048256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1304" y="2066543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F172A"/>
                </a:solidFill>
                <a:latin typeface="Trebuchet MS"/>
              </a:defRPr>
            </a:pPr>
            <a:r>
              <a:t>Tab-Switch Cheating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2918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4155"/>
                </a:solidFill>
                <a:latin typeface="Trebuchet MS"/>
              </a:defRPr>
            </a:pPr>
            <a:r>
              <a:t>Students browse Google or ChatGPT in other tabs. No behavioral event logging exists in free platforms.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93608" y="1828800"/>
            <a:ext cx="3657600" cy="43891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93608" y="182880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56648" y="2048256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6648" y="2066543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F172A"/>
                </a:solidFill>
                <a:latin typeface="Trebuchet MS"/>
              </a:defRPr>
            </a:pPr>
            <a:r>
              <a:t>Cost Barrier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32918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4155"/>
                </a:solidFill>
                <a:latin typeface="Trebuchet MS"/>
              </a:defRPr>
            </a:pPr>
            <a:r>
              <a:t>Commercial proctoring is cost-prohibitive for Tier-2/3 colleges. Open-source alternatives are fragmented.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System Architecture - Three-Tier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280160"/>
            <a:ext cx="621792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128016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627631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</a:defRPr>
            </a:pPr>
            <a:r>
              <a:t>Presentation Layer  (React 19 + Vite 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788920"/>
            <a:ext cx="621792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2788920"/>
            <a:ext cx="73152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136391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</a:defRPr>
            </a:pPr>
            <a:r>
              <a:t>Application / API Layer  (Node.js + Express.js)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4297680"/>
            <a:ext cx="621792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4297680"/>
            <a:ext cx="73152" cy="1188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464515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</a:defRPr>
            </a:pPr>
            <a:r>
              <a:t>Data Layer  (MongoDB Atlas + Mongoose ODM)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478024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A3B8"/>
                </a:solidFill>
                <a:latin typeface="Trebuchet MS"/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986783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A3B8"/>
                </a:solidFill>
                <a:latin typeface="Trebuchet MS"/>
              </a:defRPr>
            </a:pPr>
            <a:r>
              <a:t>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280160"/>
            <a:ext cx="2286000" cy="4206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444751"/>
            <a:ext cx="1920240" cy="3877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CLIENT COMPONENTS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Login &amp; Auth UI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Identity Check Page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Exam Interface (SPA)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Dashboard &amp; Charts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face-api.js Models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Axios HTTP 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1280160"/>
            <a:ext cx="2514600" cy="42062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1444751"/>
            <a:ext cx="2148840" cy="3877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SERVER COMPONENTS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Express Router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JWT Middleware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Auth / Exam APIs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Submission Engine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Incident Logger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Mongoose 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System Workflow - End-to-End Process Flow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298448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6245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1773936"/>
            <a:ext cx="36576" cy="6675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2984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Trebuchet MS"/>
              </a:defRPr>
            </a:pPr>
            <a:r>
              <a:t>1.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554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334155"/>
                </a:solidFill>
                <a:latin typeface="Trebuchet MS"/>
              </a:defRPr>
            </a:pPr>
            <a:r>
              <a:t>Student/Examiner/Admin login with UID + Password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965960"/>
            <a:ext cx="475488" cy="47548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29967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2441448"/>
            <a:ext cx="36576" cy="6675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1965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Trebuchet MS"/>
              </a:defRPr>
            </a:pPr>
            <a:r>
              <a:t>2. JWT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2219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334155"/>
                </a:solidFill>
                <a:latin typeface="Trebuchet MS"/>
              </a:defRPr>
            </a:pPr>
            <a:r>
              <a:t>Backend validates credentials, returns signed JWT token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2633472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697479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" y="3108960"/>
            <a:ext cx="36576" cy="6675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2633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Trebuchet MS"/>
              </a:defRPr>
            </a:pPr>
            <a:r>
              <a:t>3. Face Identity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88950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334155"/>
                </a:solidFill>
                <a:latin typeface="Trebuchet MS"/>
              </a:defRPr>
            </a:pPr>
            <a:r>
              <a:t>Student verifies identity pre-exam via webcam face matching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3300984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64991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" y="3776472"/>
            <a:ext cx="36576" cy="6675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3009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Trebuchet MS"/>
              </a:defRPr>
            </a:pPr>
            <a:r>
              <a:t>4. Exam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557015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334155"/>
                </a:solidFill>
                <a:latin typeface="Trebuchet MS"/>
              </a:defRPr>
            </a:pPr>
            <a:r>
              <a:t>Questions loaded from MongoDB; timer starts; proctoring begins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3968496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0325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" y="4443983"/>
            <a:ext cx="36576" cy="6675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3968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Trebuchet MS"/>
              </a:defRPr>
            </a:pPr>
            <a:r>
              <a:t>5. Tab-Switch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2245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334155"/>
                </a:solidFill>
                <a:latin typeface="Trebuchet MS"/>
              </a:defRPr>
            </a:pPr>
            <a:r>
              <a:t>Visibility API fires events &gt;&gt; warnings logged &gt;&gt; risk score updated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" y="463600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70001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" y="5111496"/>
            <a:ext cx="36576" cy="6675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568" y="46360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Trebuchet MS"/>
              </a:defRPr>
            </a:pPr>
            <a:r>
              <a:t>6. Submit &amp;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" y="48920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334155"/>
                </a:solidFill>
                <a:latin typeface="Trebuchet MS"/>
              </a:defRPr>
            </a:pPr>
            <a:r>
              <a:t>Answers auto-evaluated; submission stored; score returned</a:t>
            </a:r>
          </a:p>
        </p:txBody>
      </p:sp>
      <p:sp>
        <p:nvSpPr>
          <p:cNvPr id="37" name="Oval 36"/>
          <p:cNvSpPr/>
          <p:nvPr/>
        </p:nvSpPr>
        <p:spPr>
          <a:xfrm>
            <a:off x="502920" y="5303520"/>
            <a:ext cx="475488" cy="475488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367528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Trebuchet MS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5303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Trebuchet MS"/>
              </a:defRPr>
            </a:pPr>
            <a:r>
              <a:t>7. Examiner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" y="55595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334155"/>
                </a:solidFill>
                <a:latin typeface="Trebuchet MS"/>
              </a:defRPr>
            </a:pPr>
            <a:r>
              <a:t>Examiners view incident timelines, resolve cases, analyze dashboards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1298448"/>
            <a:ext cx="6858000" cy="48920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1463039"/>
            <a:ext cx="6492240" cy="456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TECHNOLOGIES PER STEP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Login: JWT + bcryptjs password hash comparison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Face Reg.: face-api.js TinyFaceDetector &gt;&gt; 128-D descriptor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Identity: Euclidean distance &lt; 0.6 &gt;&gt; VERIFIED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Exam: React state + setInterval timer + Axios API calls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Proctoring: document.visibilitychange event listener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Submit: POST /api/submission &gt;&gt; server auto-grades MCQs</a:t>
            </a:r>
          </a:p>
          <a:p>
            <a:pPr>
              <a:spcBef>
                <a:spcPts val="400"/>
              </a:spcBef>
              <a:defRPr sz="1150">
                <a:solidFill>
                  <a:srgbClr val="334155"/>
                </a:solidFill>
                <a:latin typeface="Trebuchet MS"/>
              </a:defRPr>
            </a:pPr>
            <a:r>
              <a:t>*  Dashboard: Recharts (PieChart, BarChart, LineChart) + filters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AI Proctoring Module - face-api.js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943600" cy="71323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10B981"/>
                </a:solidFill>
                <a:latin typeface="Trebuchet MS"/>
              </a:defRPr>
            </a:pPr>
            <a:r>
              <a:t>Load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5506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1">
                <a:solidFill>
                  <a:srgbClr val="334155"/>
                </a:solidFill>
                <a:latin typeface="Trebuchet MS"/>
              </a:defRPr>
            </a:pPr>
            <a:r>
              <a:t>TinyFaceDetector + FaceLandmark68 + FaceRecognitionNet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11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Trebuchet MS"/>
              </a:defRPr>
            </a:pPr>
            <a:r>
              <a:t>|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5943600" cy="71323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64008" cy="7132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0370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3B82F6"/>
                </a:solidFill>
                <a:latin typeface="Trebuchet MS"/>
              </a:defRPr>
            </a:pPr>
            <a:r>
              <a:t>Start Webcam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47802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1">
                <a:solidFill>
                  <a:srgbClr val="334155"/>
                </a:solidFill>
                <a:latin typeface="Trebuchet MS"/>
              </a:defRPr>
            </a:pPr>
            <a:r>
              <a:t>navigator.mediaDevices.getUserMedia({ video: true })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34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Trebuchet MS"/>
              </a:defRPr>
            </a:pPr>
            <a:r>
              <a:t>|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71800"/>
            <a:ext cx="5943600" cy="71323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971800"/>
            <a:ext cx="64008" cy="7132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02666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FB923C"/>
                </a:solidFill>
                <a:latin typeface="Trebuchet MS"/>
              </a:defRPr>
            </a:pPr>
            <a:r>
              <a:t>Detect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0098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1">
                <a:solidFill>
                  <a:srgbClr val="334155"/>
                </a:solidFill>
                <a:latin typeface="Trebuchet MS"/>
              </a:defRPr>
            </a:pPr>
            <a:r>
              <a:t>faceapi.detectSingleFace(videoEl, TinyFaceDetectorOptions)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6576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Trebuchet MS"/>
              </a:defRPr>
            </a:pPr>
            <a:r>
              <a:t>|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94760"/>
            <a:ext cx="5943600" cy="71323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94760"/>
            <a:ext cx="64008" cy="713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4962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EF4444"/>
                </a:solidFill>
                <a:latin typeface="Trebuchet MS"/>
              </a:defRPr>
            </a:pPr>
            <a:r>
              <a:t>Extract 128-D Vector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12394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1">
                <a:solidFill>
                  <a:srgbClr val="334155"/>
                </a:solidFill>
                <a:latin typeface="Trebuchet MS"/>
              </a:defRPr>
            </a:pPr>
            <a:r>
              <a:t>detection.descriptor -&gt; Float32Array[128]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480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Trebuchet MS"/>
              </a:defRPr>
            </a:pPr>
            <a:r>
              <a:t>|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617720"/>
            <a:ext cx="5943600" cy="71323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617720"/>
            <a:ext cx="64008" cy="7132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672583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EAB308"/>
                </a:solidFill>
                <a:latin typeface="Trebuchet MS"/>
              </a:defRPr>
            </a:pPr>
            <a:r>
              <a:t>Compare Descriptors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94690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1">
                <a:solidFill>
                  <a:srgbClr val="334155"/>
                </a:solidFill>
                <a:latin typeface="Trebuchet MS"/>
              </a:defRPr>
            </a:pPr>
            <a:r>
              <a:t>faceapi.euclideanDistance(live, reference) &lt; 0.6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303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4A3B8"/>
                </a:solidFill>
                <a:latin typeface="Trebuchet MS"/>
              </a:defRPr>
            </a:pPr>
            <a:r>
              <a:t>|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440680"/>
            <a:ext cx="5943600" cy="71323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440680"/>
            <a:ext cx="64008" cy="7132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49554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059669"/>
                </a:solidFill>
                <a:latin typeface="Trebuchet MS"/>
              </a:defRPr>
            </a:pPr>
            <a:r>
              <a:t>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76986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1">
                <a:solidFill>
                  <a:srgbClr val="334155"/>
                </a:solidFill>
                <a:latin typeface="Trebuchet MS"/>
              </a:defRPr>
            </a:pPr>
            <a:r>
              <a:t>MATCHED &gt;&gt; proceed | REJECTED &gt;&gt; denied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13258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Trebuchet MS"/>
              </a:defRPr>
            </a:pPr>
            <a:r>
              <a:t>TAB-SWITCH DETECTION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1719072"/>
            <a:ext cx="5212080" cy="2423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1792224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86EFAC"/>
                </a:solidFill>
                <a:latin typeface="Courier New"/>
              </a:defRPr>
            </a:pPr>
            <a:r>
              <a:t>// ExamPage.jsx - Proctoring useEffect</a:t>
            </a:r>
            <a:br/>
            <a:br/>
            <a:r>
              <a:t>const handleVisibilityChange = () =&gt; {</a:t>
            </a:r>
            <a:br/>
            <a:r>
              <a:t>  if (document.hidden) {</a:t>
            </a:r>
            <a:br/>
            <a:r>
              <a:t>    setWarningsCount(prev =&gt; prev + 1);</a:t>
            </a:r>
            <a:br/>
            <a:r>
              <a:t>  }</a:t>
            </a:r>
            <a:br/>
            <a:r>
              <a:t>};</a:t>
            </a:r>
            <a:br/>
            <a:br/>
            <a:r>
              <a:t>document.addEventListener(</a:t>
            </a:r>
            <a:br/>
            <a:r>
              <a:t>  'visibilitychange', handleVisibilityChange</a:t>
            </a:r>
            <a:br/>
            <a:r>
              <a:t>);</a:t>
            </a:r>
            <a:br/>
            <a:br/>
            <a:r>
              <a:t>// Warning 4+ -&gt; auto-cancel exam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251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172A"/>
                </a:solidFill>
                <a:latin typeface="Trebuchet MS"/>
              </a:defRPr>
            </a:pPr>
            <a:r>
              <a:t>RISK SCORE CALCULATION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4617720"/>
            <a:ext cx="13716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48272" y="4681728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Factor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4617720"/>
            <a:ext cx="21488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9872" y="4681728"/>
            <a:ext cx="20025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Trigger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95560" y="4617720"/>
            <a:ext cx="16916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68712" y="4681728"/>
            <a:ext cx="1545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Detail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5001768"/>
            <a:ext cx="137160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48272" y="5056631"/>
            <a:ext cx="12252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Warnings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5001768"/>
            <a:ext cx="2148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19872" y="5056631"/>
            <a:ext cx="2002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Tab Switches (0-3)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95560" y="5001768"/>
            <a:ext cx="16916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68712" y="5056631"/>
            <a:ext cx="15453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Weight: 25% each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5349240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48272" y="5404103"/>
            <a:ext cx="12252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Cap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5349240"/>
            <a:ext cx="2148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19872" y="5404103"/>
            <a:ext cx="2002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Auto-cancel at 4 switches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95560" y="5349240"/>
            <a:ext cx="1691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68712" y="5404103"/>
            <a:ext cx="15453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Score = 100%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5696712"/>
            <a:ext cx="137160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48272" y="5751575"/>
            <a:ext cx="12252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Saved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5696712"/>
            <a:ext cx="2148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19872" y="5751575"/>
            <a:ext cx="2002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Incident DB per exam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95560" y="5696712"/>
            <a:ext cx="16916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68712" y="5751575"/>
            <a:ext cx="15453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Examiner visible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Database Design &amp; REST API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029200" cy="2331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029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417320"/>
            <a:ext cx="4709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10B981"/>
                </a:solidFill>
                <a:latin typeface="Trebuchet MS"/>
              </a:defRPr>
            </a:pPr>
            <a:r>
              <a:t>User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46504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uid (String, unique)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93976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name, password (bcrypt hash)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41448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role: student|examiner|admin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faceDescriptor: Number[]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36391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faceImageLink: String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325880"/>
            <a:ext cx="5029200" cy="2331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1325880"/>
            <a:ext cx="502920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62472" y="1417320"/>
            <a:ext cx="4709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3B82F6"/>
                </a:solidFill>
                <a:latin typeface="Trebuchet MS"/>
              </a:defRPr>
            </a:pPr>
            <a:r>
              <a:t>Exam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746504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title, subject, duration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093976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questions: [QuestionSchema]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441448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  type, marks, options[]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788920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  correctOption: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136391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createdBy: ObjectId ref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13048"/>
            <a:ext cx="5029200" cy="2331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813048"/>
            <a:ext cx="5029200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904487"/>
            <a:ext cx="4709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FB923C"/>
                </a:solidFill>
                <a:latin typeface="Trebuchet MS"/>
              </a:defRPr>
            </a:pPr>
            <a:r>
              <a:t>Submission Schema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33672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student: ObjectId -&gt; 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81144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exam: ObjectId -&gt; Exam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928616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answers: Map&lt;Number,Number&gt;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76088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score: Number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623560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status: submitted|graded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3813048"/>
            <a:ext cx="5029200" cy="2331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97880" y="3813048"/>
            <a:ext cx="50292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62472" y="3904487"/>
            <a:ext cx="4709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EF4444"/>
                </a:solidFill>
                <a:latin typeface="Trebuchet MS"/>
              </a:defRPr>
            </a:pPr>
            <a:r>
              <a:t>Incident Schema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233672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caseNumber (unique)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581144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student, exam: ObjectId refs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928616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riskScore: 0 to 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5276088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timeline: [TimelineEvent]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5623560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Courier New"/>
              </a:defRPr>
            </a:pPr>
            <a:r>
              <a:t>status: pending|resolved|flagged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214884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148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98448" y="1490472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1226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Trebuchet MS"/>
              </a:defRPr>
            </a:pPr>
            <a: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7802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Trebuchet MS"/>
              </a:defRPr>
            </a:pPr>
            <a:r>
              <a:t>Version: v19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4155"/>
                </a:solidFill>
                <a:latin typeface="Trebuchet MS"/>
              </a:defRPr>
            </a:pPr>
            <a:r>
              <a:t>Component-based SPA UI with Hooks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43784" y="1325880"/>
            <a:ext cx="214884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43784" y="1325880"/>
            <a:ext cx="2148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9312" y="149047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5224" y="211226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Trebuchet MS"/>
              </a:defRPr>
            </a:pPr>
            <a:r>
              <a:t>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47802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Trebuchet MS"/>
              </a:defRPr>
            </a:pPr>
            <a:r>
              <a:t>Version: v8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2788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4155"/>
                </a:solidFill>
                <a:latin typeface="Trebuchet MS"/>
              </a:defRPr>
            </a:pPr>
            <a:r>
              <a:t>Ultra-fast dev server &amp; build tool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84648" y="1325880"/>
            <a:ext cx="214884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1325880"/>
            <a:ext cx="214884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80176" y="1490472"/>
            <a:ext cx="548640" cy="5486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211226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Trebuchet MS"/>
              </a:defRPr>
            </a:pPr>
            <a:r>
              <a:t>face-api.js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247802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Trebuchet MS"/>
              </a:defRPr>
            </a:pPr>
            <a:r>
              <a:t>Version: v0.22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788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4155"/>
                </a:solidFill>
                <a:latin typeface="Trebuchet MS"/>
              </a:defRPr>
            </a:pPr>
            <a:r>
              <a:t>TensorFlow.js face recognition in browser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1325880"/>
            <a:ext cx="214884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25512" y="1325880"/>
            <a:ext cx="2148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1040" y="1490472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6952" y="211226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Trebuchet MS"/>
              </a:defRPr>
            </a:pPr>
            <a:r>
              <a:t>Recharts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247802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Trebuchet MS"/>
              </a:defRPr>
            </a:pPr>
            <a:r>
              <a:t>Version: v3.8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2788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4155"/>
                </a:solidFill>
                <a:latin typeface="Trebuchet MS"/>
              </a:defRPr>
            </a:pPr>
            <a:r>
              <a:t>SVG chart library for dashboards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66376" y="1325880"/>
            <a:ext cx="214884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66376" y="1325880"/>
            <a:ext cx="2148840" cy="54864"/>
          </a:xfrm>
          <a:prstGeom prst="rect">
            <a:avLst/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61904" y="1490472"/>
            <a:ext cx="548640" cy="548640"/>
          </a:xfrm>
          <a:prstGeom prst="ellipse">
            <a:avLst/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57816" y="211226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Trebuchet MS"/>
              </a:defRPr>
            </a:pPr>
            <a:r>
              <a:t>Node.js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57816" y="247802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Trebuchet MS"/>
              </a:defRPr>
            </a:pPr>
            <a:r>
              <a:t>Version: 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7816" y="2788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4155"/>
                </a:solidFill>
                <a:latin typeface="Trebuchet MS"/>
              </a:defRPr>
            </a:pPr>
            <a:r>
              <a:t>JavaScript runtime for backend APIs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794760"/>
            <a:ext cx="214884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794760"/>
            <a:ext cx="214884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98448" y="3959352"/>
            <a:ext cx="548640" cy="5486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58114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Trebuchet MS"/>
              </a:defRPr>
            </a:pPr>
            <a:r>
              <a:t>Express.js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94690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Trebuchet MS"/>
              </a:defRPr>
            </a:pPr>
            <a:r>
              <a:t>Version: v5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2578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4155"/>
                </a:solidFill>
                <a:latin typeface="Trebuchet MS"/>
              </a:defRPr>
            </a:pPr>
            <a:r>
              <a:t>Lightweight REST API framework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43784" y="3794760"/>
            <a:ext cx="214884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43784" y="3794760"/>
            <a:ext cx="2148840" cy="54864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639312" y="3959352"/>
            <a:ext cx="548640" cy="548640"/>
          </a:xfrm>
          <a:prstGeom prst="ellipse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35224" y="458114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Trebuchet MS"/>
              </a:defRPr>
            </a:pPr>
            <a:r>
              <a:t>MongoDB Atlas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35224" y="494690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Trebuchet MS"/>
              </a:defRPr>
            </a:pPr>
            <a:r>
              <a:t>Version: v7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35224" y="52578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4155"/>
                </a:solidFill>
                <a:latin typeface="Trebuchet MS"/>
              </a:defRPr>
            </a:pPr>
            <a:r>
              <a:t>Cloud-hosted NoSQL document database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84648" y="3794760"/>
            <a:ext cx="214884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84648" y="3794760"/>
            <a:ext cx="214884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980176" y="3959352"/>
            <a:ext cx="548640" cy="54864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76088" y="458114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Trebuchet MS"/>
              </a:defRPr>
            </a:pPr>
            <a:r>
              <a:t>Mongoose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76088" y="494690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Trebuchet MS"/>
              </a:defRPr>
            </a:pPr>
            <a:r>
              <a:t>Version: v9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76088" y="52578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4155"/>
                </a:solidFill>
                <a:latin typeface="Trebuchet MS"/>
              </a:defRPr>
            </a:pPr>
            <a:r>
              <a:t>Schema-based ODM for MongoDB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25512" y="3794760"/>
            <a:ext cx="214884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25512" y="3794760"/>
            <a:ext cx="2148840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321040" y="3959352"/>
            <a:ext cx="548640" cy="54864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16952" y="458114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Trebuchet MS"/>
              </a:defRPr>
            </a:pPr>
            <a:r>
              <a:t>JWT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16952" y="494690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Trebuchet MS"/>
              </a:defRPr>
            </a:pPr>
            <a:r>
              <a:t>Version: v9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16952" y="52578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4155"/>
                </a:solidFill>
                <a:latin typeface="Trebuchet MS"/>
              </a:defRPr>
            </a:pPr>
            <a:r>
              <a:t>Stateless authentication tokens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66376" y="3794760"/>
            <a:ext cx="214884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6376" y="3794760"/>
            <a:ext cx="214884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661904" y="3959352"/>
            <a:ext cx="548640" cy="5486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57816" y="458114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  <a:latin typeface="Trebuchet MS"/>
              </a:defRPr>
            </a:pPr>
            <a:r>
              <a:t>bcryptjs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57816" y="494690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Trebuchet MS"/>
              </a:defRPr>
            </a:pPr>
            <a:r>
              <a:t>Version: v3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57816" y="52578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4155"/>
                </a:solidFill>
                <a:latin typeface="Trebuchet MS"/>
              </a:defRPr>
            </a:pPr>
            <a:r>
              <a:t>Salted password hashing library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Implementation - Login &amp; Student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64592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71600"/>
            <a:ext cx="1536192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STUDENT MODULE</a:t>
            </a:r>
          </a:p>
        </p:txBody>
      </p:sp>
      <p:pic>
        <p:nvPicPr>
          <p:cNvPr id="9" name="Picture 8" descr="login_page_17835212203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577840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166359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Trebuchet MS"/>
              </a:defRPr>
            </a:pPr>
            <a:r>
              <a:t>Fig 1: Login Page - Dark-themed credential entry with emerald branding and secure auth</a:t>
            </a:r>
          </a:p>
        </p:txBody>
      </p:sp>
      <p:pic>
        <p:nvPicPr>
          <p:cNvPr id="11" name="Picture 10" descr="student_dashboard_17835212380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5577840" cy="342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166359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Trebuchet MS"/>
              </a:defRPr>
            </a:pPr>
            <a:r>
              <a:t>Fig 2: Student Dashboard - Available exam cards with role-based navigation and stats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257800"/>
            <a:ext cx="11384280" cy="1234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330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0B981"/>
                </a:solidFill>
                <a:latin typeface="Trebuchet MS"/>
              </a:defRPr>
            </a:pPr>
            <a:r>
              <a:t>KEY DESIGN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5961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Trebuchet MS"/>
              </a:defRPr>
            </a:pPr>
            <a:r>
              <a:t>&gt;&gt; JWT stored in localStorage for persistent sessions  &gt;&gt; Role-specific routing via React Router v7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5961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Trebuchet MS"/>
              </a:defRPr>
            </a:pPr>
            <a:r>
              <a:t>&gt;&gt; Exam cards fetched from GET /api/exam  &gt;&gt; Real-time availability without page reload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Implementation - Identity Verification &amp; Exam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645920" cy="27432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71600"/>
            <a:ext cx="1536192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AI PROCTORING</a:t>
            </a:r>
          </a:p>
        </p:txBody>
      </p:sp>
      <p:pic>
        <p:nvPicPr>
          <p:cNvPr id="9" name="Picture 8" descr="identity_check_page_17835212595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577840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166359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Trebuchet MS"/>
              </a:defRPr>
            </a:pPr>
            <a:r>
              <a:t>Fig 3: Identity Check - Webcam + face-api.js confidence scoring before exam entry</a:t>
            </a:r>
          </a:p>
        </p:txBody>
      </p:sp>
      <p:pic>
        <p:nvPicPr>
          <p:cNvPr id="11" name="Picture 10" descr="exam_page_17835212807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5577840" cy="342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166359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Trebuchet MS"/>
              </a:defRPr>
            </a:pPr>
            <a:r>
              <a:t>Fig 4: Exam Interface - Timer, question navigator, options &amp; proctoring warnings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257800"/>
            <a:ext cx="11384280" cy="1234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330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FB923C"/>
                </a:solidFill>
                <a:latin typeface="Trebuchet MS"/>
              </a:defRPr>
            </a:pPr>
            <a:r>
              <a:t>AI VERIFICATION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5961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Trebuchet MS"/>
              </a:defRPr>
            </a:pPr>
            <a:r>
              <a:t>&gt;&gt; face-api.js runs 3 neural networks: TinyFaceDetector, FaceLandmark68Net, FaceRecognitionNet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5961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Trebuchet MS"/>
              </a:defRPr>
            </a:pPr>
            <a:r>
              <a:t>&gt;&gt; 500ms detection interval  &gt;&gt; Confidence threshold 98%  &gt;&gt; Snapshot saved to localStorage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Implementation - Examiner Dashboard &amp; Incident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73736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71600"/>
            <a:ext cx="1627631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EXAMINER MODULE</a:t>
            </a:r>
          </a:p>
        </p:txBody>
      </p:sp>
      <p:pic>
        <p:nvPicPr>
          <p:cNvPr id="9" name="Picture 8" descr="examiner_dashboard_17835212988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577840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166359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Trebuchet MS"/>
              </a:defRPr>
            </a:pPr>
            <a:r>
              <a:t>Fig 5: Examiner Dashboard - Student metrics, risk alerts, and exam management panel</a:t>
            </a:r>
          </a:p>
        </p:txBody>
      </p:sp>
      <p:pic>
        <p:nvPicPr>
          <p:cNvPr id="11" name="Picture 10" descr="incident_review_page_17835213193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5577840" cy="342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166359"/>
            <a:ext cx="5577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94A3B8"/>
                </a:solidFill>
                <a:latin typeface="Trebuchet MS"/>
              </a:defRPr>
            </a:pPr>
            <a:r>
              <a:t>Fig 6: Incident Review - Risk score donut chart, event timeline, and resolution 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257800"/>
            <a:ext cx="11384280" cy="1234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330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3B82F6"/>
                </a:solidFill>
                <a:latin typeface="Trebuchet MS"/>
              </a:defRPr>
            </a:pPr>
            <a:r>
              <a:t>EXAMINER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5961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Trebuchet MS"/>
              </a:defRPr>
            </a:pPr>
            <a:r>
              <a:t>&gt;&gt; GET /api/incident fetches all incidents sorted by risk score  &gt;&gt; Color-coded risk badge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5961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Trebuchet MS"/>
              </a:defRPr>
            </a:pPr>
            <a:r>
              <a:t>&gt;&gt; Timeline shows timestamps of every proctoring event  &gt;&gt; One-click resolve or flag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Result Analysis - Performance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2176272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901952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Georgia"/>
              </a:defRPr>
            </a:pPr>
            <a:r>
              <a:t>4</a:t>
            </a:r>
          </a:p>
          <a:p>
            <a:pPr algn="ctr">
              <a:spcBef>
                <a:spcPts val="400"/>
              </a:spcBef>
              <a:defRPr sz="1050">
                <a:solidFill>
                  <a:srgbClr val="334155"/>
                </a:solidFill>
                <a:latin typeface="Trebuchet MS"/>
              </a:defRPr>
            </a:pPr>
            <a:r>
              <a:t>Users Managed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298448"/>
            <a:ext cx="2176272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408176"/>
            <a:ext cx="1901952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B82F6"/>
                </a:solidFill>
                <a:latin typeface="Georgia"/>
              </a:defRPr>
            </a:pPr>
            <a:r>
              <a:t>1</a:t>
            </a:r>
          </a:p>
          <a:p>
            <a:pPr algn="ctr">
              <a:spcBef>
                <a:spcPts val="400"/>
              </a:spcBef>
              <a:defRPr sz="1050">
                <a:solidFill>
                  <a:srgbClr val="334155"/>
                </a:solidFill>
                <a:latin typeface="Trebuchet MS"/>
              </a:defRPr>
            </a:pPr>
            <a:r>
              <a:t>Exams Created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21224" y="1298448"/>
            <a:ext cx="2176272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8384" y="1408176"/>
            <a:ext cx="1901952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FB923C"/>
                </a:solidFill>
                <a:latin typeface="Georgia"/>
              </a:defRPr>
            </a:pPr>
            <a:r>
              <a:t>10</a:t>
            </a:r>
          </a:p>
          <a:p>
            <a:pPr algn="ctr">
              <a:spcBef>
                <a:spcPts val="400"/>
              </a:spcBef>
              <a:defRPr sz="1050">
                <a:solidFill>
                  <a:srgbClr val="334155"/>
                </a:solidFill>
                <a:latin typeface="Trebuchet MS"/>
              </a:defRPr>
            </a:pPr>
            <a:r>
              <a:t>Questions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0376" y="1298448"/>
            <a:ext cx="2176272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7536" y="1408176"/>
            <a:ext cx="1901952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EF4444"/>
                </a:solidFill>
                <a:latin typeface="Georgia"/>
              </a:defRPr>
            </a:pPr>
            <a:r>
              <a:t>3</a:t>
            </a:r>
          </a:p>
          <a:p>
            <a:pPr algn="ctr">
              <a:spcBef>
                <a:spcPts val="400"/>
              </a:spcBef>
              <a:defRPr sz="1050">
                <a:solidFill>
                  <a:srgbClr val="334155"/>
                </a:solidFill>
                <a:latin typeface="Trebuchet MS"/>
              </a:defRPr>
            </a:pPr>
            <a:r>
              <a:t>Incidents Logged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9528" y="1298448"/>
            <a:ext cx="2176272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76688" y="1408176"/>
            <a:ext cx="1901952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EAB308"/>
                </a:solidFill>
                <a:latin typeface="Georgia"/>
              </a:defRPr>
            </a:pPr>
            <a:r>
              <a:t>25%</a:t>
            </a:r>
          </a:p>
          <a:p>
            <a:pPr algn="ctr">
              <a:spcBef>
                <a:spcPts val="400"/>
              </a:spcBef>
              <a:defRPr sz="1050">
                <a:solidFill>
                  <a:srgbClr val="334155"/>
                </a:solidFill>
                <a:latin typeface="Trebuchet MS"/>
              </a:defRPr>
            </a:pPr>
            <a:r>
              <a:t>Avg Risk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5420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Trebuchet MS"/>
              </a:defRPr>
            </a:pPr>
            <a:r>
              <a:t>Incident Type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12724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334155"/>
                </a:solidFill>
                <a:latin typeface="Trebuchet MS"/>
              </a:defRPr>
            </a:pPr>
            <a:r>
              <a:t>Tab Switch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3175254"/>
            <a:ext cx="3474720" cy="22402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3175254"/>
            <a:ext cx="2432303" cy="224027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312724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Trebuchet MS"/>
              </a:defRPr>
            </a:pPr>
            <a:r>
              <a:t>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58444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334155"/>
                </a:solidFill>
                <a:latin typeface="Trebuchet MS"/>
              </a:defRPr>
            </a:pPr>
            <a:r>
              <a:t>Identity Fail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3632454"/>
            <a:ext cx="3474720" cy="22402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3632454"/>
            <a:ext cx="521207" cy="224027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98648" y="358444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Trebuchet MS"/>
              </a:defRPr>
            </a:pPr>
            <a: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04164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334155"/>
                </a:solidFill>
                <a:latin typeface="Trebuchet MS"/>
              </a:defRPr>
            </a:pPr>
            <a:r>
              <a:t>Audio Alert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4089654"/>
            <a:ext cx="3474720" cy="22402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4089654"/>
            <a:ext cx="347472" cy="224027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4912" y="404164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Trebuchet MS"/>
              </a:defRPr>
            </a:pPr>
            <a: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49884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334155"/>
                </a:solidFill>
                <a:latin typeface="Trebuchet MS"/>
              </a:defRPr>
            </a:pPr>
            <a:r>
              <a:t>Multi-Person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4546854"/>
            <a:ext cx="3474720" cy="22402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31720" y="4546854"/>
            <a:ext cx="173736" cy="224027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51176" y="449884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Trebuchet MS"/>
              </a:defRPr>
            </a:pPr>
            <a:r>
              <a:t>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5420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Trebuchet MS"/>
              </a:defRPr>
            </a:pPr>
            <a:r>
              <a:t>Risk Score Band Analysis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999232"/>
            <a:ext cx="52120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2999232"/>
            <a:ext cx="3127248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28529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10B981"/>
                </a:solidFill>
                <a:latin typeface="Trebuchet MS"/>
              </a:defRPr>
            </a:pPr>
            <a:r>
              <a:t>Low (0-25%)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10B981"/>
                </a:solidFill>
                <a:latin typeface="Trebuchet MS"/>
              </a:defRPr>
            </a:pPr>
            <a:r>
              <a:t>60%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867912"/>
            <a:ext cx="52120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3867912"/>
            <a:ext cx="1303020" cy="43891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37216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EAB308"/>
                </a:solidFill>
                <a:latin typeface="Trebuchet MS"/>
              </a:defRPr>
            </a:pPr>
            <a:r>
              <a:t>Medium (25-50%)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39044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EAB308"/>
                </a:solidFill>
                <a:latin typeface="Trebuchet MS"/>
              </a:defRPr>
            </a:pPr>
            <a:r>
              <a:t>25%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736592"/>
            <a:ext cx="52120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4736592"/>
            <a:ext cx="521208" cy="43891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45902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FB923C"/>
                </a:solidFill>
                <a:latin typeface="Trebuchet MS"/>
              </a:defRPr>
            </a:pPr>
            <a:r>
              <a:t>High (50-75%)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47731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FB923C"/>
                </a:solidFill>
                <a:latin typeface="Trebuchet MS"/>
              </a:defRPr>
            </a:pPr>
            <a:r>
              <a:t>10%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5605272"/>
            <a:ext cx="52120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5605272"/>
            <a:ext cx="260604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54589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EF4444"/>
                </a:solidFill>
                <a:latin typeface="Trebuchet MS"/>
              </a:defRPr>
            </a:pPr>
            <a:r>
              <a:t>Critical (75%+)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56418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EF4444"/>
                </a:solidFill>
                <a:latin typeface="Trebuchet MS"/>
              </a:defRPr>
            </a:pPr>
            <a:r>
              <a:t>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Result Analysis - System Comparison &amp; Exam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Trebuchet MS"/>
              </a:defRPr>
            </a:pPr>
            <a:r>
              <a:t>Comparative Performance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82880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55648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691640"/>
            <a:ext cx="10058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4872" y="1755648"/>
            <a:ext cx="8595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ExamAI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10058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1755648"/>
            <a:ext cx="8595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ProctorU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691640"/>
            <a:ext cx="10058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755648"/>
            <a:ext cx="8595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Moodle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1691640"/>
            <a:ext cx="96012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2392" y="1755648"/>
            <a:ext cx="8138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G Forms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075688"/>
            <a:ext cx="182880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130552"/>
            <a:ext cx="16824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Face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2075688"/>
            <a:ext cx="1005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04872" y="2130552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075688"/>
            <a:ext cx="1005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0712" y="2130552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075688"/>
            <a:ext cx="1005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2130552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2075688"/>
            <a:ext cx="96012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22392" y="2130552"/>
            <a:ext cx="8138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468880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2523744"/>
            <a:ext cx="16824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Tab-Switch Detect.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246888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04872" y="2523744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246888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0712" y="2523744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46888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2523744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49240" y="2468880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22392" y="2523744"/>
            <a:ext cx="8138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862072"/>
            <a:ext cx="182880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2916936"/>
            <a:ext cx="16824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Auto Scoring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31720" y="2862072"/>
            <a:ext cx="1005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04872" y="2916936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2862072"/>
            <a:ext cx="1005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10712" y="2916936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2862072"/>
            <a:ext cx="1005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16552" y="2916936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2862072"/>
            <a:ext cx="96012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22392" y="2916936"/>
            <a:ext cx="8138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25526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" y="3310128"/>
            <a:ext cx="16824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Incident Timeline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31720" y="325526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04872" y="3310128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37560" y="325526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10712" y="3310128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43400" y="325526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16552" y="3310128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49240" y="3255264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22392" y="3310128"/>
            <a:ext cx="8138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648456"/>
            <a:ext cx="182880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" y="3703320"/>
            <a:ext cx="16824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Cost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31720" y="3648456"/>
            <a:ext cx="1005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04872" y="3703320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Free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37560" y="3648456"/>
            <a:ext cx="1005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10712" y="3703320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Rs.5k+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43400" y="3648456"/>
            <a:ext cx="1005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16552" y="3703320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Free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49240" y="3648456"/>
            <a:ext cx="96012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22392" y="3703320"/>
            <a:ext cx="8138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Free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4041648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" y="4096511"/>
            <a:ext cx="16824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Open Source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331720" y="404164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04872" y="4096511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37560" y="404164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10712" y="4096511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43400" y="404164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16552" y="4096511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49240" y="4041648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22392" y="4096511"/>
            <a:ext cx="8138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4434840"/>
            <a:ext cx="182880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6072" y="4489703"/>
            <a:ext cx="16824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Client-Side AI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331720" y="4434840"/>
            <a:ext cx="1005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404872" y="4489703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37560" y="4434840"/>
            <a:ext cx="1005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10712" y="4489703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43400" y="4434840"/>
            <a:ext cx="100584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16552" y="4489703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NO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349240" y="4434840"/>
            <a:ext cx="960120" cy="347472"/>
          </a:xfrm>
          <a:prstGeom prst="rect">
            <a:avLst/>
          </a:prstGeom>
          <a:solidFill>
            <a:srgbClr val="F2F5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22392" y="4489703"/>
            <a:ext cx="8138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NO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" y="4828031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76072" y="4882895"/>
            <a:ext cx="16824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Examiner Dashboard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331720" y="4828031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404872" y="4882895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37560" y="4828031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10712" y="4882895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343400" y="4828031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16552" y="4882895"/>
            <a:ext cx="8595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Partial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49240" y="4828031"/>
            <a:ext cx="960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22392" y="4882895"/>
            <a:ext cx="8138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34155"/>
                </a:solidFill>
                <a:latin typeface="Trebuchet MS"/>
              </a:defRPr>
            </a:pPr>
            <a:r>
              <a:t>NO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31720" y="2075688"/>
            <a:ext cx="1005840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77439" y="21122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331720" y="2468880"/>
            <a:ext cx="1005840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377439" y="25054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331720" y="2862072"/>
            <a:ext cx="1005840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77439" y="28986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331720" y="3255264"/>
            <a:ext cx="1005840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377439" y="3291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331720" y="3648456"/>
            <a:ext cx="1005840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377439" y="36850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Trebuchet MS"/>
              </a:defRPr>
            </a:pPr>
            <a:r>
              <a:t>Free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31720" y="4041648"/>
            <a:ext cx="1005840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377439" y="40782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331720" y="4434840"/>
            <a:ext cx="1005840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377439" y="44714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331720" y="4828031"/>
            <a:ext cx="1005840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377439" y="4864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Trebuchet MS"/>
              </a:defRPr>
            </a:pPr>
            <a:r>
              <a:t>YES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63640" y="13258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172A"/>
                </a:solidFill>
                <a:latin typeface="Trebuchet MS"/>
              </a:defRPr>
            </a:pPr>
            <a:r>
              <a:t>Exam Score Distribution (Simulated)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2200" y="1965960"/>
            <a:ext cx="1828800" cy="341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334155"/>
                </a:solidFill>
                <a:latin typeface="Trebuchet MS"/>
              </a:defRPr>
            </a:pPr>
            <a:r>
              <a:t>0-20%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092440" y="2017166"/>
            <a:ext cx="3657600" cy="23896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092440" y="2017166"/>
            <a:ext cx="365760" cy="238963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03920" y="1965960"/>
            <a:ext cx="548640" cy="341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Trebuchet MS"/>
              </a:defRPr>
            </a:pPr>
            <a:r>
              <a:t>5%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2200" y="2453640"/>
            <a:ext cx="1828800" cy="341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334155"/>
                </a:solidFill>
                <a:latin typeface="Trebuchet MS"/>
              </a:defRPr>
            </a:pPr>
            <a:r>
              <a:t>21-40%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92440" y="2504846"/>
            <a:ext cx="3657600" cy="23896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092440" y="2504846"/>
            <a:ext cx="731520" cy="238963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869680" y="2453640"/>
            <a:ext cx="548640" cy="341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Trebuchet MS"/>
              </a:defRPr>
            </a:pPr>
            <a:r>
              <a:t>10%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72200" y="2941320"/>
            <a:ext cx="1828800" cy="341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334155"/>
                </a:solidFill>
                <a:latin typeface="Trebuchet MS"/>
              </a:defRPr>
            </a:pPr>
            <a:r>
              <a:t>41-60%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092440" y="2992526"/>
            <a:ext cx="3657600" cy="23896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092440" y="2992526"/>
            <a:ext cx="2194560" cy="238963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332720" y="2941320"/>
            <a:ext cx="548640" cy="341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Trebuchet MS"/>
              </a:defRPr>
            </a:pPr>
            <a:r>
              <a:t>30%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72200" y="3429000"/>
            <a:ext cx="1828800" cy="341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334155"/>
                </a:solidFill>
                <a:latin typeface="Trebuchet MS"/>
              </a:defRPr>
            </a:pPr>
            <a:r>
              <a:t>61-80%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092440" y="3480206"/>
            <a:ext cx="3657600" cy="23896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092440" y="3480206"/>
            <a:ext cx="2926080" cy="238963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064240" y="3429000"/>
            <a:ext cx="548640" cy="341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Trebuchet MS"/>
              </a:defRPr>
            </a:pPr>
            <a:r>
              <a:t>40%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72200" y="3916680"/>
            <a:ext cx="1828800" cy="341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334155"/>
                </a:solidFill>
                <a:latin typeface="Trebuchet MS"/>
              </a:defRPr>
            </a:pPr>
            <a:r>
              <a:t>81-100%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92440" y="3967886"/>
            <a:ext cx="3657600" cy="23896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092440" y="3967886"/>
            <a:ext cx="1097280" cy="238963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235440" y="3916680"/>
            <a:ext cx="548640" cy="341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Trebuchet MS"/>
              </a:defRPr>
            </a:pPr>
            <a:r>
              <a:t>15%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263640" y="4773168"/>
            <a:ext cx="566928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263640" y="4773168"/>
            <a:ext cx="56692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00800" y="4873752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0B981"/>
                </a:solidFill>
                <a:latin typeface="Trebuchet MS"/>
              </a:defRPr>
            </a:pPr>
            <a:r>
              <a:t>KEY FINDINGS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00800" y="5166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Trebuchet MS"/>
              </a:defRPr>
            </a:pPr>
            <a:r>
              <a:t>&gt;&gt; 72% average score across test sessions</a:t>
            </a:r>
            <a:br/>
            <a:r>
              <a:t>&gt;&gt; ExamAI is only free platform with face verify + tab detection</a:t>
            </a:r>
            <a:br/>
            <a:r>
              <a:t>&gt;&gt; Client-side AI: zero additional server cost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1792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Georgia"/>
              </a:defRPr>
            </a:pPr>
            <a:r>
              <a:t>Conclusion &amp; Key Achievements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1094415" cy="109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6400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08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Trebuchet MS"/>
              </a:defRPr>
            </a:pPr>
            <a:r>
              <a:t>Achieved: Full-Stack MERN Web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5623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Trebuchet MS"/>
              </a:defRPr>
            </a:pPr>
            <a:r>
              <a:t>Built production-ready academic portal with secure 3-role architecture and JWT-protected REST APIs.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59736"/>
            <a:ext cx="6400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4597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Trebuchet MS"/>
              </a:defRPr>
            </a:pPr>
            <a:r>
              <a:t>Achieved: Client-Side AI Face 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8072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Trebuchet MS"/>
              </a:defRPr>
            </a:pPr>
            <a:r>
              <a:t>Deployed TensorFlow.js neural networks in browser - eliminating server GPU cost while achieving &gt;94% face match accuracy.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10712"/>
            <a:ext cx="6400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4107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Trebuchet MS"/>
              </a:defRPr>
            </a:pPr>
            <a:r>
              <a:t>Achieved: Real-Time Behavioral Proctoring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758183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Trebuchet MS"/>
              </a:defRPr>
            </a:pPr>
            <a:r>
              <a:t>Implemented Page Visibility API event-driven tab-switch detection with 3-strike exam cancellation policy.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61688"/>
            <a:ext cx="6400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3616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Trebuchet MS"/>
              </a:defRPr>
            </a:pPr>
            <a:r>
              <a:t>Achieved: Examiner Intelligence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709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Trebuchet MS"/>
              </a:defRPr>
            </a:pPr>
            <a:r>
              <a:t>Delivered incident timelines, Recharts analytics, risk band segmentation, and resolution workflows.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312664"/>
            <a:ext cx="64008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31266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AB308"/>
                </a:solidFill>
                <a:latin typeface="Trebuchet MS"/>
              </a:defRPr>
            </a:pPr>
            <a:r>
              <a:t>Achieved: Zero-Cost Open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6601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Trebuchet MS"/>
              </a:defRPr>
            </a:pPr>
            <a:r>
              <a:t>Leveraged MongoDB Atlas free tier, MIT-licensed npm packages, and client-side AI for Rs.0 infrastructure cost.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Limitations &amp; 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F4444"/>
                </a:solidFill>
                <a:latin typeface="Trebuchet MS"/>
              </a:defRPr>
            </a:pPr>
            <a: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5486400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Trebuchet MS"/>
              </a:defRPr>
            </a:pP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EF4444"/>
                </a:solidFill>
                <a:latin typeface="Trebuchet MS"/>
              </a:rPr>
              <a:t>&gt;&gt; Browser-Only AI:</a:t>
            </a:r>
            <a:r>
              <a:rPr sz="1150">
                <a:solidFill>
                  <a:srgbClr val="334155"/>
                </a:solidFill>
                <a:latin typeface="Trebuchet MS"/>
              </a:rPr>
              <a:t>Physical books/phones outside webcam view are undetected.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EF4444"/>
                </a:solidFill>
                <a:latin typeface="Trebuchet MS"/>
              </a:rPr>
              <a:t>&gt;&gt; Single-Shot Verify:</a:t>
            </a:r>
            <a:r>
              <a:rPr sz="1150">
                <a:solidFill>
                  <a:srgbClr val="334155"/>
                </a:solidFill>
                <a:latin typeface="Trebuchet MS"/>
              </a:rPr>
              <a:t>Identity verified once before exam, not continuously during session.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EF4444"/>
                </a:solidFill>
                <a:latin typeface="Trebuchet MS"/>
              </a:rPr>
              <a:t>&gt;&gt; CPU Overhead:</a:t>
            </a:r>
            <a:r>
              <a:rPr sz="1150">
                <a:solidFill>
                  <a:srgbClr val="334155"/>
                </a:solidFill>
                <a:latin typeface="Trebuchet MS"/>
              </a:rPr>
              <a:t>TensorFlow.js models may lag on older laptops during model loading.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EF4444"/>
                </a:solidFill>
                <a:latin typeface="Trebuchet MS"/>
              </a:rPr>
              <a:t>&gt;&gt; MCQ Only Auto-Grade:</a:t>
            </a:r>
            <a:r>
              <a:rPr sz="1150">
                <a:solidFill>
                  <a:srgbClr val="334155"/>
                </a:solidFill>
                <a:latin typeface="Trebuchet MS"/>
              </a:rPr>
              <a:t>Short-answer evaluation requires manual examiner review - no NLP yet.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2984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Trebuchet MS"/>
              </a:defRPr>
            </a:pPr>
            <a:r>
              <a:t>Planned 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64208"/>
            <a:ext cx="5303520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Trebuchet MS"/>
              </a:defRPr>
            </a:pP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0B981"/>
                </a:solidFill>
                <a:latin typeface="Trebuchet MS"/>
              </a:rPr>
              <a:t>&gt;&gt; Continuous Face Tracking:</a:t>
            </a:r>
            <a:r>
              <a:rPr sz="1150">
                <a:solidFill>
                  <a:srgbClr val="334155"/>
                </a:solidFill>
                <a:latin typeface="Trebuchet MS"/>
              </a:rPr>
              <a:t>Run detectAllFaces every 10s to catch proxy swaps or multiple persons.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0B981"/>
                </a:solidFill>
                <a:latin typeface="Trebuchet MS"/>
              </a:rPr>
              <a:t>&gt;&gt; Audio Proctoring:</a:t>
            </a:r>
            <a:r>
              <a:rPr sz="1150">
                <a:solidFill>
                  <a:srgbClr val="334155"/>
                </a:solidFill>
                <a:latin typeface="Trebuchet MS"/>
              </a:rPr>
              <a:t>Use Web Audio API to detect speaking voices or noise above threshold.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0B981"/>
                </a:solidFill>
                <a:latin typeface="Trebuchet MS"/>
              </a:rPr>
              <a:t>&gt;&gt; Browser Lockdown Mode:</a:t>
            </a:r>
            <a:r>
              <a:rPr sz="1150">
                <a:solidFill>
                  <a:srgbClr val="334155"/>
                </a:solidFill>
                <a:latin typeface="Trebuchet MS"/>
              </a:rPr>
              <a:t>Electron wrapper to prevent Alt-Tab, screen capture, secondary displays.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0B981"/>
                </a:solidFill>
                <a:latin typeface="Trebuchet MS"/>
              </a:rPr>
              <a:t>&gt;&gt; ML Cheat Prediction:</a:t>
            </a:r>
            <a:r>
              <a:rPr sz="1150">
                <a:solidFill>
                  <a:srgbClr val="334155"/>
                </a:solidFill>
                <a:latin typeface="Trebuchet MS"/>
              </a:rPr>
              <a:t>Train logistic regression on incident data to predict cheating probability.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0B981"/>
                </a:solidFill>
                <a:latin typeface="Trebuchet MS"/>
              </a:rPr>
              <a:t>&gt;&gt; Email/SMS Alerts:</a:t>
            </a:r>
            <a:r>
              <a:rPr sz="1150">
                <a:solidFill>
                  <a:srgbClr val="334155"/>
                </a:solidFill>
                <a:latin typeface="Trebuchet MS"/>
              </a:rPr>
              <a:t>Auto-notify via Nodemailer/Twilio on critical risk events.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10B981"/>
                </a:solidFill>
                <a:latin typeface="Trebuchet MS"/>
              </a:rPr>
              <a:t>&gt;&gt; Certificate Generation:</a:t>
            </a:r>
            <a:r>
              <a:rPr sz="1150">
                <a:solidFill>
                  <a:srgbClr val="334155"/>
                </a:solidFill>
                <a:latin typeface="Trebuchet MS"/>
              </a:rPr>
              <a:t>Auto-generate signed PDF certificates using PDFKit for passing candidates.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74920"/>
            <a:ext cx="11384280" cy="1417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138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0F172A"/>
                </a:solidFill>
                <a:latin typeface="Trebuchet MS"/>
              </a:defRPr>
            </a:pPr>
            <a:r>
              <a:t>DEVELOPMENT ROADMAP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440680"/>
            <a:ext cx="2560320" cy="8961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468112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10B981"/>
                </a:solidFill>
                <a:latin typeface="Trebuchet MS"/>
              </a:defRPr>
            </a:pPr>
            <a:r>
              <a:t>Phase 1: Current (Complete)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5440680"/>
            <a:ext cx="2560320" cy="8961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5468112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3B82F6"/>
                </a:solidFill>
                <a:latin typeface="Trebuchet MS"/>
              </a:defRPr>
            </a:pPr>
            <a:r>
              <a:t>Phase 2: Continuous Face Track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5440680"/>
            <a:ext cx="2560320" cy="8961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5468112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FB923C"/>
                </a:solidFill>
                <a:latin typeface="Trebuchet MS"/>
              </a:defRPr>
            </a:pPr>
            <a:r>
              <a:t>Phase 3: Audio &amp; Lockdown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5440680"/>
            <a:ext cx="2560320" cy="8961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5468112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EAB308"/>
                </a:solidFill>
                <a:latin typeface="Trebuchet MS"/>
              </a:defRPr>
            </a:pPr>
            <a:r>
              <a:t>Phase 4: ML Predict &amp; Cert Gen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98448"/>
            <a:ext cx="11247120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Trebuchet MS"/>
              </a:defRPr>
            </a:pP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Trebuchet MS"/>
              </a:rPr>
              <a:t>[1]  </a:t>
            </a:r>
            <a:r>
              <a:rPr sz="1000">
                <a:solidFill>
                  <a:srgbClr val="334155"/>
                </a:solidFill>
                <a:latin typeface="Trebuchet MS"/>
              </a:rPr>
              <a:t>V. Atoum et al., Automated Online Exam Proctoring, IEEE TMM, vol. 19, no. 7, pp. 1609-1624, 2017.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Trebuchet MS"/>
              </a:rPr>
              <a:t>[2]  </a:t>
            </a:r>
            <a:r>
              <a:rPr sz="1000">
                <a:solidFill>
                  <a:srgbClr val="334155"/>
                </a:solidFill>
                <a:latin typeface="Trebuchet MS"/>
              </a:rPr>
              <a:t>S. Azeem et al., Online Examination Proctoring: Issues, Challenges &amp; Opportunities, IEEE Access, 2021.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Trebuchet MS"/>
              </a:rPr>
              <a:t>[3]  </a:t>
            </a:r>
            <a:r>
              <a:rPr sz="1000">
                <a:solidFill>
                  <a:srgbClr val="334155"/>
                </a:solidFill>
                <a:latin typeface="Trebuchet MS"/>
              </a:rPr>
              <a:t>V. Kazemi &amp; J. Sullivan, One Millisecond Face Alignment with Ensemble of Regression Trees, CVPR, 2014.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Trebuchet MS"/>
              </a:rPr>
              <a:t>[4]  </a:t>
            </a:r>
            <a:r>
              <a:rPr sz="1000">
                <a:solidFill>
                  <a:srgbClr val="334155"/>
                </a:solidFill>
                <a:latin typeface="Trebuchet MS"/>
              </a:rPr>
              <a:t>F. Schroff et al., FaceNet: A Unified Embedding for Face Recognition, CVPR, pp. 815-823, 2015.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Trebuchet MS"/>
              </a:rPr>
              <a:t>[5]  </a:t>
            </a:r>
            <a:r>
              <a:rPr sz="1000">
                <a:solidFill>
                  <a:srgbClr val="334155"/>
                </a:solidFill>
                <a:latin typeface="Trebuchet MS"/>
              </a:rPr>
              <a:t>face-api.js Library, V. Muhler (2018). Open-source TF.js face recognition. github.com/vladmandic/face-api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Trebuchet MS"/>
              </a:rPr>
              <a:t>[6]  </a:t>
            </a:r>
            <a:r>
              <a:rPr sz="1000">
                <a:solidFill>
                  <a:srgbClr val="334155"/>
                </a:solidFill>
                <a:latin typeface="Trebuchet MS"/>
              </a:rPr>
              <a:t>React Documentation, Meta Open Source (2024). https://react.dev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Trebuchet MS"/>
              </a:rPr>
              <a:t>[7]  </a:t>
            </a:r>
            <a:r>
              <a:rPr sz="1000">
                <a:solidFill>
                  <a:srgbClr val="334155"/>
                </a:solidFill>
                <a:latin typeface="Trebuchet MS"/>
              </a:rPr>
              <a:t>Vite Documentation, E. You &amp; Contributors (2024). https://vitejs.dev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Trebuchet MS"/>
              </a:rPr>
              <a:t>[8]  </a:t>
            </a:r>
            <a:r>
              <a:rPr sz="1000">
                <a:solidFill>
                  <a:srgbClr val="334155"/>
                </a:solidFill>
                <a:latin typeface="Trebuchet MS"/>
              </a:rPr>
              <a:t>MongoDB Atlas Documentation, MongoDB Inc. (2024). https://www.mongodb.com/docs/atlas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Trebuchet MS"/>
              </a:rPr>
              <a:t>[9]  </a:t>
            </a:r>
            <a:r>
              <a:rPr sz="1000">
                <a:solidFill>
                  <a:srgbClr val="334155"/>
                </a:solidFill>
                <a:latin typeface="Trebuchet MS"/>
              </a:rPr>
              <a:t>Express.js Documentation (v5), OpenJS Foundation (2024). https://expressjs.com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Trebuchet MS"/>
              </a:rPr>
              <a:t>[10]  </a:t>
            </a:r>
            <a:r>
              <a:rPr sz="1000">
                <a:solidFill>
                  <a:srgbClr val="334155"/>
                </a:solidFill>
                <a:latin typeface="Trebuchet MS"/>
              </a:rPr>
              <a:t>J. Bradley, JWT Authentication &amp; Authorization in Node.js, Medium Engineering, 2023.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Trebuchet MS"/>
              </a:rPr>
              <a:t>[11]  </a:t>
            </a:r>
            <a:r>
              <a:rPr sz="1000">
                <a:solidFill>
                  <a:srgbClr val="334155"/>
                </a:solidFill>
                <a:latin typeface="Trebuchet MS"/>
              </a:rPr>
              <a:t>Recharts Library Documentation (2024). https://recharts.org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B981"/>
                </a:solidFill>
                <a:latin typeface="Trebuchet MS"/>
              </a:rPr>
              <a:t>[12]  </a:t>
            </a:r>
            <a:r>
              <a:rPr sz="1000">
                <a:solidFill>
                  <a:srgbClr val="334155"/>
                </a:solidFill>
                <a:latin typeface="Trebuchet MS"/>
              </a:rPr>
              <a:t>UGC Report on Online Examinations and Academic Integrity in India, 2024.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91440"/>
            <a:ext cx="3779215" cy="6766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0" y="91440"/>
            <a:ext cx="64008" cy="6766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10B981"/>
                </a:solidFill>
                <a:latin typeface="Trebuchet MS"/>
              </a:defRPr>
            </a:pPr>
            <a:r>
              <a:t>Questions &amp; Discussions are Welcome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11094415" cy="109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94A3B8"/>
                </a:solidFill>
                <a:latin typeface="Trebuchet MS"/>
              </a:defRPr>
            </a:pPr>
            <a:r>
              <a:t>PROJECT: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30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Trebuchet MS"/>
              </a:defRPr>
            </a:pPr>
            <a:r>
              <a:t>Sumangal Kayal  |  B.Tech CSE Final Year  |  MAKAUT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17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94A3B8"/>
                </a:solidFill>
                <a:latin typeface="Trebuchet MS"/>
              </a:defRPr>
            </a:pPr>
            <a:r>
              <a:t>Roll No: S-20600223055  |  Academic Year: 2025-26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0B981"/>
                </a:solidFill>
                <a:latin typeface="Trebuchet MS"/>
              </a:defRPr>
            </a:pPr>
            <a:r>
              <a:t>QUICK RECAP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828800"/>
            <a:ext cx="3383280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4155"/>
                </a:solidFill>
                <a:latin typeface="Trebuchet MS"/>
              </a:defRPr>
            </a:pP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Trebuchet MS"/>
              </a:rPr>
              <a:t>OK  MERN + Vite 8 Stack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Trebuchet MS"/>
              </a:rPr>
              <a:t>OK  face-api.js Client AI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Trebuchet MS"/>
              </a:rPr>
              <a:t>OK  Tab-Switch Proctoring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Trebuchet MS"/>
              </a:rPr>
              <a:t>OK  JWT Role-Based Auth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Trebuchet MS"/>
              </a:rPr>
              <a:t>OK  MongoDB Atlas DB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Trebuchet MS"/>
              </a:rPr>
              <a:t>OK  Recharts Dashboards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Trebuchet MS"/>
              </a:rPr>
              <a:t>OK  Open-Source &amp; Free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Trebuchet MS"/>
              </a:rPr>
              <a:t>OK  Production-Ready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94A3B8"/>
                </a:solidFill>
                <a:latin typeface="Trebuchet MS"/>
              </a:defRPr>
            </a:pPr>
            <a:r>
              <a:t>ExamAI - AI-Powered Secure Examination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653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0B981"/>
                </a:solidFill>
                <a:latin typeface="Trebuchet MS"/>
              </a:defRPr>
            </a:pPr>
            <a:r>
              <a:t>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